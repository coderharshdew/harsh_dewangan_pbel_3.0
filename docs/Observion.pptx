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24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240" y="57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8779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10" Type="http://schemas.openxmlformats.org/officeDocument/2006/relationships/image" Target="../media/image15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971104"/>
            <a:ext cx="2021979" cy="215354"/>
          </a:xfrm>
          <a:prstGeom prst="roundRect">
            <a:avLst>
              <a:gd name="adj" fmla="val 7900"/>
            </a:avLst>
          </a:prstGeom>
          <a:solidFill>
            <a:srgbClr val="4A0303"/>
          </a:solidFill>
          <a:ln/>
        </p:spPr>
      </p:sp>
      <p:sp>
        <p:nvSpPr>
          <p:cNvPr id="4" name="Text 1"/>
          <p:cNvSpPr/>
          <p:nvPr/>
        </p:nvSpPr>
        <p:spPr>
          <a:xfrm>
            <a:off x="4010174" y="1013594"/>
            <a:ext cx="230906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C7CDD6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PHASE 1 · ML DETECTION ENGINE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3925119" y="1243161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EFD5FA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Observion</a:t>
            </a:r>
            <a:endParaRPr lang="en-US" sz="2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3925119" y="1898749"/>
            <a:ext cx="4722763" cy="1834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50" dirty="0">
                <a:solidFill>
                  <a:srgbClr val="EFD5FA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AI-Driven Network Threat Detection &amp; Observability</a:t>
            </a:r>
            <a:endParaRPr lang="en-US" sz="3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3756660" y="4172322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IBM PBEL 3.0 Internship Project · Practical AI &amp; Cyber Security prototype 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1FB620-9B28-2565-E1EF-DA19001AA5CB}"/>
              </a:ext>
            </a:extLst>
          </p:cNvPr>
          <p:cNvSpPr/>
          <p:nvPr/>
        </p:nvSpPr>
        <p:spPr>
          <a:xfrm>
            <a:off x="6346642" y="4678680"/>
            <a:ext cx="2758440" cy="464820"/>
          </a:xfrm>
          <a:prstGeom prst="rect">
            <a:avLst/>
          </a:prstGeom>
          <a:solidFill>
            <a:srgbClr val="2424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48" y="911498"/>
            <a:ext cx="3320504" cy="33205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396925"/>
            <a:ext cx="4722763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EFD5FA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Implemented Features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860747"/>
            <a:ext cx="217066" cy="21706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925119" y="1181621"/>
            <a:ext cx="4722763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C7CDD6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CSV Flow Upload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3925119" y="1400994"/>
            <a:ext cx="4722763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C7CDD6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Upload network flow CSVs (max 500 MB). Preprocessing pipeline aligns data to the CICIDS2017 78-feature schema.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1873746"/>
            <a:ext cx="217066" cy="21706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925119" y="2194620"/>
            <a:ext cx="4722763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C7CDD6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Random Forest Classifier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3925119" y="2413992"/>
            <a:ext cx="4722763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C7CDD6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Multi-class attack classification with per-prediction confidence scoring and interpretable feature importance.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25119" y="2886745"/>
            <a:ext cx="217066" cy="21706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925119" y="3207618"/>
            <a:ext cx="4722763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C7CDD6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Rich Output Set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3925119" y="3426991"/>
            <a:ext cx="4722763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C7CDD6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Attack distribution, benign/malicious split, risk score, model confidence, top attack types, and full prediction table.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3899743"/>
            <a:ext cx="217066" cy="21706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3925119" y="4220617"/>
            <a:ext cx="4722763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C7CDD6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Modular Codebase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8"/>
          <p:cNvSpPr/>
          <p:nvPr/>
        </p:nvSpPr>
        <p:spPr>
          <a:xfrm>
            <a:off x="3925119" y="4439989"/>
            <a:ext cx="4722763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C7CDD6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Designed to plug in additional models — XGBoost, LSTM, Autoencoders — without rearchitecting the pipeline.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37ABD1F-2C48-0EC7-A960-0DCAFA53D968}"/>
              </a:ext>
            </a:extLst>
          </p:cNvPr>
          <p:cNvSpPr/>
          <p:nvPr/>
        </p:nvSpPr>
        <p:spPr>
          <a:xfrm>
            <a:off x="6346642" y="4678680"/>
            <a:ext cx="2758440" cy="464820"/>
          </a:xfrm>
          <a:prstGeom prst="rect">
            <a:avLst/>
          </a:prstGeom>
          <a:solidFill>
            <a:srgbClr val="2424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F08088A9-69BF-4132-CFAC-85AD2010E22E}"/>
              </a:ext>
            </a:extLst>
          </p:cNvPr>
          <p:cNvSpPr/>
          <p:nvPr/>
        </p:nvSpPr>
        <p:spPr>
          <a:xfrm>
            <a:off x="6346642" y="4678680"/>
            <a:ext cx="2758440" cy="464820"/>
          </a:xfrm>
          <a:prstGeom prst="rect">
            <a:avLst/>
          </a:prstGeom>
          <a:solidFill>
            <a:srgbClr val="2424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8448537-8E0B-3BE6-3DC0-10DA42CC48EC}"/>
              </a:ext>
            </a:extLst>
          </p:cNvPr>
          <p:cNvGrpSpPr/>
          <p:nvPr/>
        </p:nvGrpSpPr>
        <p:grpSpPr>
          <a:xfrm>
            <a:off x="1371601" y="78073"/>
            <a:ext cx="6606988" cy="4938939"/>
            <a:chOff x="1381259" y="296405"/>
            <a:chExt cx="6325582" cy="4499526"/>
          </a:xfrm>
        </p:grpSpPr>
        <p:sp>
          <p:nvSpPr>
            <p:cNvPr id="2" name="Text 0"/>
            <p:cNvSpPr/>
            <p:nvPr/>
          </p:nvSpPr>
          <p:spPr>
            <a:xfrm>
              <a:off x="1450057" y="296405"/>
              <a:ext cx="5936715" cy="15417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350" dirty="0">
                  <a:solidFill>
                    <a:srgbClr val="EFD5FA"/>
                  </a:solidFill>
                  <a:latin typeface="Times New Roman" panose="02020603050405020304" pitchFamily="18" charset="0"/>
                  <a:ea typeface="Instrument Sans Medium" pitchFamily="34" charset="-122"/>
                  <a:cs typeface="Times New Roman" panose="02020603050405020304" pitchFamily="18" charset="0"/>
                </a:rPr>
                <a:t>Architecture &amp; Tech Stack</a:t>
              </a:r>
              <a:endParaRPr lang="en-US" sz="13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Shape 1"/>
            <p:cNvSpPr/>
            <p:nvPr/>
          </p:nvSpPr>
          <p:spPr>
            <a:xfrm>
              <a:off x="1381259" y="496617"/>
              <a:ext cx="5992616" cy="211443"/>
            </a:xfrm>
            <a:prstGeom prst="roundRect">
              <a:avLst>
                <a:gd name="adj" fmla="val 5421"/>
              </a:avLst>
            </a:prstGeom>
            <a:solidFill>
              <a:srgbClr val="7B0404"/>
            </a:solidFill>
            <a:ln/>
          </p:spPr>
        </p:sp>
        <p:pic>
          <p:nvPicPr>
            <p:cNvPr id="4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04786" y="514304"/>
              <a:ext cx="167929" cy="128422"/>
            </a:xfrm>
            <a:prstGeom prst="rect">
              <a:avLst/>
            </a:prstGeom>
          </p:spPr>
        </p:pic>
        <p:sp>
          <p:nvSpPr>
            <p:cNvPr id="5" name="Text 2"/>
            <p:cNvSpPr/>
            <p:nvPr/>
          </p:nvSpPr>
          <p:spPr>
            <a:xfrm>
              <a:off x="1604836" y="533606"/>
              <a:ext cx="6050414" cy="592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000" dirty="0">
                  <a:solidFill>
                    <a:srgbClr val="FFFFFF"/>
                  </a:solidFill>
                  <a:latin typeface="Times New Roman" panose="02020603050405020304" pitchFamily="18" charset="0"/>
                  <a:ea typeface="Inter" pitchFamily="34" charset="-122"/>
                  <a:cs typeface="Times New Roman" panose="02020603050405020304" pitchFamily="18" charset="0"/>
                </a:rPr>
                <a:t>No live traffic capture or network simulation yet — current pipeline is batch/offline, CSV-driven.</a:t>
              </a:r>
              <a:endParaRPr 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6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753906" y="715337"/>
              <a:ext cx="3303167" cy="3157567"/>
            </a:xfrm>
            <a:prstGeom prst="rect">
              <a:avLst/>
            </a:prstGeom>
          </p:spPr>
        </p:pic>
        <p:sp>
          <p:nvSpPr>
            <p:cNvPr id="7" name="Text 3"/>
            <p:cNvSpPr/>
            <p:nvPr/>
          </p:nvSpPr>
          <p:spPr>
            <a:xfrm>
              <a:off x="3074733" y="1177330"/>
              <a:ext cx="1064328" cy="15961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Instrument Sans Medium" pitchFamily="34" charset="-122"/>
                  <a:cs typeface="Times New Roman" panose="02020603050405020304" pitchFamily="18" charset="0"/>
                </a:rPr>
                <a:t>CSV Upload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xt 4"/>
            <p:cNvSpPr/>
            <p:nvPr/>
          </p:nvSpPr>
          <p:spPr>
            <a:xfrm>
              <a:off x="3074733" y="1489255"/>
              <a:ext cx="1064328" cy="5235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ctr">
                <a:lnSpc>
                  <a:spcPct val="78000"/>
                </a:lnSpc>
                <a:buNone/>
              </a:pPr>
              <a:r>
                <a:rPr lang="en-US" sz="1150" dirty="0">
                  <a:solidFill>
                    <a:srgbClr val="000000"/>
                  </a:solidFill>
                  <a:latin typeface="Times New Roman" panose="02020603050405020304" pitchFamily="18" charset="0"/>
                  <a:ea typeface="Inter" pitchFamily="34" charset="-122"/>
                  <a:cs typeface="Times New Roman" panose="02020603050405020304" pitchFamily="18" charset="0"/>
                </a:rPr>
                <a:t>Batch CSV input for offline pipeline ingestion.</a:t>
              </a:r>
              <a:endParaRPr lang="en-US" sz="11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Text 5"/>
            <p:cNvSpPr/>
            <p:nvPr/>
          </p:nvSpPr>
          <p:spPr>
            <a:xfrm>
              <a:off x="4677625" y="1214405"/>
              <a:ext cx="1064328" cy="15961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Instrument Sans Medium" pitchFamily="34" charset="-122"/>
                  <a:cs typeface="Times New Roman" panose="02020603050405020304" pitchFamily="18" charset="0"/>
                </a:rPr>
                <a:t>Preprocessing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ext 6"/>
            <p:cNvSpPr/>
            <p:nvPr/>
          </p:nvSpPr>
          <p:spPr>
            <a:xfrm>
              <a:off x="4677626" y="1489255"/>
              <a:ext cx="1064328" cy="4986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ctr">
                <a:lnSpc>
                  <a:spcPct val="78000"/>
                </a:lnSpc>
                <a:buNone/>
              </a:pPr>
              <a:r>
                <a:rPr lang="en-US" sz="1150" dirty="0">
                  <a:solidFill>
                    <a:srgbClr val="000000"/>
                  </a:solidFill>
                  <a:latin typeface="Times New Roman" panose="02020603050405020304" pitchFamily="18" charset="0"/>
                  <a:ea typeface="Inter" pitchFamily="34" charset="-122"/>
                  <a:cs typeface="Times New Roman" panose="02020603050405020304" pitchFamily="18" charset="0"/>
                </a:rPr>
                <a:t>Cleaning, schema checks, and feature alignment.</a:t>
              </a:r>
              <a:endParaRPr lang="en-US" sz="11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 7"/>
            <p:cNvSpPr/>
            <p:nvPr/>
          </p:nvSpPr>
          <p:spPr>
            <a:xfrm>
              <a:off x="3074825" y="2768157"/>
              <a:ext cx="1064328" cy="15961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Instrument Sans Medium" pitchFamily="34" charset="-122"/>
                  <a:cs typeface="Times New Roman" panose="02020603050405020304" pitchFamily="18" charset="0"/>
                </a:rPr>
                <a:t>Random Forest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Text 8"/>
            <p:cNvSpPr/>
            <p:nvPr/>
          </p:nvSpPr>
          <p:spPr>
            <a:xfrm>
              <a:off x="3074825" y="3021431"/>
              <a:ext cx="1064328" cy="5235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ctr">
                <a:lnSpc>
                  <a:spcPct val="78000"/>
                </a:lnSpc>
                <a:buNone/>
              </a:pPr>
              <a:r>
                <a:rPr lang="en-US" sz="1150" dirty="0">
                  <a:solidFill>
                    <a:srgbClr val="000000"/>
                  </a:solidFill>
                  <a:latin typeface="Times New Roman" panose="02020603050405020304" pitchFamily="18" charset="0"/>
                  <a:ea typeface="Inter" pitchFamily="34" charset="-122"/>
                  <a:cs typeface="Times New Roman" panose="02020603050405020304" pitchFamily="18" charset="0"/>
                </a:rPr>
                <a:t>Trained model used for classification inference.</a:t>
              </a:r>
              <a:endParaRPr lang="en-US" sz="11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Text 9"/>
            <p:cNvSpPr/>
            <p:nvPr/>
          </p:nvSpPr>
          <p:spPr>
            <a:xfrm>
              <a:off x="4677626" y="2714658"/>
              <a:ext cx="1064328" cy="3192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fontScale="92500" lnSpcReduction="20000"/>
            </a:bodyPr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Instrument Sans Medium" pitchFamily="34" charset="-122"/>
                  <a:cs typeface="Times New Roman" panose="02020603050405020304" pitchFamily="18" charset="0"/>
                </a:rPr>
                <a:t>Prediction Engine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Text 10"/>
            <p:cNvSpPr/>
            <p:nvPr/>
          </p:nvSpPr>
          <p:spPr>
            <a:xfrm>
              <a:off x="4677626" y="3149119"/>
              <a:ext cx="1064328" cy="3507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fontScale="92500" lnSpcReduction="10000"/>
            </a:bodyPr>
            <a:lstStyle/>
            <a:p>
              <a:pPr marL="0" indent="0" algn="ctr">
                <a:lnSpc>
                  <a:spcPct val="78000"/>
                </a:lnSpc>
                <a:buNone/>
              </a:pPr>
              <a:r>
                <a:rPr lang="en-US" sz="1150" dirty="0">
                  <a:solidFill>
                    <a:srgbClr val="000000"/>
                  </a:solidFill>
                  <a:latin typeface="Times New Roman" panose="02020603050405020304" pitchFamily="18" charset="0"/>
                  <a:ea typeface="Inter" pitchFamily="34" charset="-122"/>
                  <a:cs typeface="Times New Roman" panose="02020603050405020304" pitchFamily="18" charset="0"/>
                </a:rPr>
                <a:t>Generate labels with confidence scores.</a:t>
              </a:r>
              <a:endParaRPr lang="en-US" sz="11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 11"/>
            <p:cNvSpPr/>
            <p:nvPr/>
          </p:nvSpPr>
          <p:spPr>
            <a:xfrm>
              <a:off x="1437159" y="3900619"/>
              <a:ext cx="6269682" cy="592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550" dirty="0">
                  <a:solidFill>
                    <a:srgbClr val="C7CDD6"/>
                  </a:solidFill>
                  <a:latin typeface="Times New Roman" panose="02020603050405020304" pitchFamily="18" charset="0"/>
                  <a:ea typeface="Inter" pitchFamily="34" charset="-122"/>
                  <a:cs typeface="Times New Roman" panose="02020603050405020304" pitchFamily="18" charset="0"/>
                </a:rPr>
                <a:t>End-to-end batch pipeline: raw CSV input flows through preprocessing and model inference to a structured results dashboard.</a:t>
              </a:r>
              <a:endParaRPr lang="en-US" sz="5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Shape 12"/>
            <p:cNvSpPr/>
            <p:nvPr/>
          </p:nvSpPr>
          <p:spPr>
            <a:xfrm>
              <a:off x="1437159" y="3987549"/>
              <a:ext cx="1464805" cy="348395"/>
            </a:xfrm>
            <a:prstGeom prst="roundRect">
              <a:avLst>
                <a:gd name="adj" fmla="val 2125"/>
              </a:avLst>
            </a:prstGeom>
            <a:solidFill>
              <a:srgbClr val="434348"/>
            </a:solidFill>
            <a:ln/>
          </p:spPr>
        </p:sp>
        <p:sp>
          <p:nvSpPr>
            <p:cNvPr id="17" name="Shape 13"/>
            <p:cNvSpPr/>
            <p:nvPr/>
          </p:nvSpPr>
          <p:spPr>
            <a:xfrm>
              <a:off x="1488751" y="4036867"/>
              <a:ext cx="154832" cy="148009"/>
            </a:xfrm>
            <a:prstGeom prst="ellipse">
              <a:avLst/>
            </a:prstGeom>
            <a:solidFill>
              <a:srgbClr val="FDC4C4"/>
            </a:solidFill>
            <a:ln/>
          </p:spPr>
        </p:sp>
        <p:pic>
          <p:nvPicPr>
            <p:cNvPr id="18" name="Image 2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531347" y="4077588"/>
              <a:ext cx="69639" cy="66570"/>
            </a:xfrm>
            <a:prstGeom prst="rect">
              <a:avLst/>
            </a:prstGeom>
          </p:spPr>
        </p:pic>
        <p:sp>
          <p:nvSpPr>
            <p:cNvPr id="19" name="Text 14"/>
            <p:cNvSpPr/>
            <p:nvPr/>
          </p:nvSpPr>
          <p:spPr>
            <a:xfrm>
              <a:off x="1488751" y="4209537"/>
              <a:ext cx="1361619" cy="7708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650" dirty="0">
                  <a:solidFill>
                    <a:srgbClr val="C7CDD6"/>
                  </a:solidFill>
                  <a:latin typeface="Times New Roman" panose="02020603050405020304" pitchFamily="18" charset="0"/>
                  <a:ea typeface="Instrument Sans Medium" pitchFamily="34" charset="-122"/>
                  <a:cs typeface="Times New Roman" panose="02020603050405020304" pitchFamily="18" charset="0"/>
                </a:rPr>
                <a:t>Python</a:t>
              </a:r>
              <a:endParaRPr lang="en-US" sz="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Shape 15"/>
            <p:cNvSpPr/>
            <p:nvPr/>
          </p:nvSpPr>
          <p:spPr>
            <a:xfrm>
              <a:off x="2927759" y="3987549"/>
              <a:ext cx="1464859" cy="348395"/>
            </a:xfrm>
            <a:prstGeom prst="roundRect">
              <a:avLst>
                <a:gd name="adj" fmla="val 2125"/>
              </a:avLst>
            </a:prstGeom>
            <a:solidFill>
              <a:srgbClr val="434348"/>
            </a:solidFill>
            <a:ln/>
          </p:spPr>
        </p:sp>
        <p:sp>
          <p:nvSpPr>
            <p:cNvPr id="21" name="Shape 16"/>
            <p:cNvSpPr/>
            <p:nvPr/>
          </p:nvSpPr>
          <p:spPr>
            <a:xfrm>
              <a:off x="2979352" y="4036867"/>
              <a:ext cx="154832" cy="148009"/>
            </a:xfrm>
            <a:prstGeom prst="ellipse">
              <a:avLst/>
            </a:prstGeom>
            <a:solidFill>
              <a:srgbClr val="FDC4C4"/>
            </a:solidFill>
            <a:ln/>
          </p:spPr>
        </p:sp>
        <p:pic>
          <p:nvPicPr>
            <p:cNvPr id="22" name="Image 3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021948" y="4077588"/>
              <a:ext cx="69639" cy="66570"/>
            </a:xfrm>
            <a:prstGeom prst="rect">
              <a:avLst/>
            </a:prstGeom>
          </p:spPr>
        </p:pic>
        <p:sp>
          <p:nvSpPr>
            <p:cNvPr id="23" name="Text 17"/>
            <p:cNvSpPr/>
            <p:nvPr/>
          </p:nvSpPr>
          <p:spPr>
            <a:xfrm>
              <a:off x="2979352" y="4209537"/>
              <a:ext cx="1361674" cy="7708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650" dirty="0">
                  <a:solidFill>
                    <a:srgbClr val="C7CDD6"/>
                  </a:solidFill>
                  <a:latin typeface="Times New Roman" panose="02020603050405020304" pitchFamily="18" charset="0"/>
                  <a:ea typeface="Instrument Sans Medium" pitchFamily="34" charset="-122"/>
                  <a:cs typeface="Times New Roman" panose="02020603050405020304" pitchFamily="18" charset="0"/>
                </a:rPr>
                <a:t>Scikit-Learn</a:t>
              </a:r>
              <a:endParaRPr lang="en-US" sz="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Shape 18"/>
            <p:cNvSpPr/>
            <p:nvPr/>
          </p:nvSpPr>
          <p:spPr>
            <a:xfrm>
              <a:off x="4418415" y="3987549"/>
              <a:ext cx="1464805" cy="348395"/>
            </a:xfrm>
            <a:prstGeom prst="roundRect">
              <a:avLst>
                <a:gd name="adj" fmla="val 2125"/>
              </a:avLst>
            </a:prstGeom>
            <a:solidFill>
              <a:srgbClr val="434348"/>
            </a:solidFill>
            <a:ln/>
          </p:spPr>
        </p:sp>
        <p:sp>
          <p:nvSpPr>
            <p:cNvPr id="25" name="Shape 19"/>
            <p:cNvSpPr/>
            <p:nvPr/>
          </p:nvSpPr>
          <p:spPr>
            <a:xfrm>
              <a:off x="4470007" y="4036867"/>
              <a:ext cx="154832" cy="148009"/>
            </a:xfrm>
            <a:prstGeom prst="ellipse">
              <a:avLst/>
            </a:prstGeom>
            <a:solidFill>
              <a:srgbClr val="FDC4C4"/>
            </a:solidFill>
            <a:ln/>
          </p:spPr>
        </p:sp>
        <p:pic>
          <p:nvPicPr>
            <p:cNvPr id="26" name="Image 4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512603" y="4077588"/>
              <a:ext cx="69639" cy="66570"/>
            </a:xfrm>
            <a:prstGeom prst="rect">
              <a:avLst/>
            </a:prstGeom>
          </p:spPr>
        </p:pic>
        <p:sp>
          <p:nvSpPr>
            <p:cNvPr id="27" name="Text 20"/>
            <p:cNvSpPr/>
            <p:nvPr/>
          </p:nvSpPr>
          <p:spPr>
            <a:xfrm>
              <a:off x="4470007" y="4209537"/>
              <a:ext cx="1361619" cy="7708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650" dirty="0">
                  <a:solidFill>
                    <a:srgbClr val="C7CDD6"/>
                  </a:solidFill>
                  <a:latin typeface="Times New Roman" panose="02020603050405020304" pitchFamily="18" charset="0"/>
                  <a:ea typeface="Instrument Sans Medium" pitchFamily="34" charset="-122"/>
                  <a:cs typeface="Times New Roman" panose="02020603050405020304" pitchFamily="18" charset="0"/>
                </a:rPr>
                <a:t>Pandas / NumPy</a:t>
              </a:r>
              <a:endParaRPr lang="en-US" sz="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Shape 21"/>
            <p:cNvSpPr/>
            <p:nvPr/>
          </p:nvSpPr>
          <p:spPr>
            <a:xfrm>
              <a:off x="5909015" y="3987547"/>
              <a:ext cx="1464859" cy="348394"/>
            </a:xfrm>
            <a:prstGeom prst="roundRect">
              <a:avLst>
                <a:gd name="adj" fmla="val 2125"/>
              </a:avLst>
            </a:prstGeom>
            <a:solidFill>
              <a:srgbClr val="434348"/>
            </a:solidFill>
            <a:ln/>
          </p:spPr>
        </p:sp>
        <p:sp>
          <p:nvSpPr>
            <p:cNvPr id="29" name="Shape 22"/>
            <p:cNvSpPr/>
            <p:nvPr/>
          </p:nvSpPr>
          <p:spPr>
            <a:xfrm>
              <a:off x="5960608" y="4036866"/>
              <a:ext cx="154832" cy="148009"/>
            </a:xfrm>
            <a:prstGeom prst="ellipse">
              <a:avLst/>
            </a:prstGeom>
            <a:solidFill>
              <a:srgbClr val="FDC4C4"/>
            </a:solidFill>
            <a:ln/>
          </p:spPr>
        </p:sp>
        <p:pic>
          <p:nvPicPr>
            <p:cNvPr id="30" name="Image 5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003204" y="4077589"/>
              <a:ext cx="69639" cy="66570"/>
            </a:xfrm>
            <a:prstGeom prst="rect">
              <a:avLst/>
            </a:prstGeom>
          </p:spPr>
        </p:pic>
        <p:sp>
          <p:nvSpPr>
            <p:cNvPr id="31" name="Text 23"/>
            <p:cNvSpPr/>
            <p:nvPr/>
          </p:nvSpPr>
          <p:spPr>
            <a:xfrm>
              <a:off x="5960608" y="4209535"/>
              <a:ext cx="1361674" cy="7708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650" dirty="0">
                  <a:solidFill>
                    <a:srgbClr val="C7CDD6"/>
                  </a:solidFill>
                  <a:latin typeface="Times New Roman" panose="02020603050405020304" pitchFamily="18" charset="0"/>
                  <a:ea typeface="Instrument Sans Medium" pitchFamily="34" charset="-122"/>
                  <a:cs typeface="Times New Roman" panose="02020603050405020304" pitchFamily="18" charset="0"/>
                </a:rPr>
                <a:t>Matplotlib / Plotly</a:t>
              </a:r>
              <a:endParaRPr lang="en-US" sz="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Shape 24"/>
            <p:cNvSpPr/>
            <p:nvPr/>
          </p:nvSpPr>
          <p:spPr>
            <a:xfrm>
              <a:off x="1437159" y="4360602"/>
              <a:ext cx="2955460" cy="348394"/>
            </a:xfrm>
            <a:prstGeom prst="roundRect">
              <a:avLst>
                <a:gd name="adj" fmla="val 2125"/>
              </a:avLst>
            </a:prstGeom>
            <a:solidFill>
              <a:srgbClr val="434348"/>
            </a:solidFill>
            <a:ln/>
          </p:spPr>
        </p:sp>
        <p:sp>
          <p:nvSpPr>
            <p:cNvPr id="33" name="Shape 25"/>
            <p:cNvSpPr/>
            <p:nvPr/>
          </p:nvSpPr>
          <p:spPr>
            <a:xfrm>
              <a:off x="1488751" y="4409920"/>
              <a:ext cx="154832" cy="148009"/>
            </a:xfrm>
            <a:prstGeom prst="ellipse">
              <a:avLst/>
            </a:prstGeom>
            <a:solidFill>
              <a:srgbClr val="FDC4C4"/>
            </a:solidFill>
            <a:ln/>
          </p:spPr>
        </p:sp>
        <p:pic>
          <p:nvPicPr>
            <p:cNvPr id="34" name="Image 6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531347" y="4450639"/>
              <a:ext cx="69639" cy="66570"/>
            </a:xfrm>
            <a:prstGeom prst="rect">
              <a:avLst/>
            </a:prstGeom>
          </p:spPr>
        </p:pic>
        <p:sp>
          <p:nvSpPr>
            <p:cNvPr id="35" name="Text 26"/>
            <p:cNvSpPr/>
            <p:nvPr/>
          </p:nvSpPr>
          <p:spPr>
            <a:xfrm>
              <a:off x="1488751" y="4582588"/>
              <a:ext cx="2852275" cy="7708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650" dirty="0">
                  <a:solidFill>
                    <a:srgbClr val="C7CDD6"/>
                  </a:solidFill>
                  <a:latin typeface="Times New Roman" panose="02020603050405020304" pitchFamily="18" charset="0"/>
                  <a:ea typeface="Instrument Sans Medium" pitchFamily="34" charset="-122"/>
                  <a:cs typeface="Times New Roman" panose="02020603050405020304" pitchFamily="18" charset="0"/>
                </a:rPr>
                <a:t>Docker</a:t>
              </a:r>
              <a:endParaRPr lang="en-US" sz="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Shape 27"/>
            <p:cNvSpPr/>
            <p:nvPr/>
          </p:nvSpPr>
          <p:spPr>
            <a:xfrm>
              <a:off x="4418415" y="4360597"/>
              <a:ext cx="2955460" cy="348394"/>
            </a:xfrm>
            <a:prstGeom prst="roundRect">
              <a:avLst>
                <a:gd name="adj" fmla="val 2125"/>
              </a:avLst>
            </a:prstGeom>
            <a:solidFill>
              <a:srgbClr val="434348"/>
            </a:solidFill>
            <a:ln/>
          </p:spPr>
        </p:sp>
        <p:sp>
          <p:nvSpPr>
            <p:cNvPr id="37" name="Shape 28"/>
            <p:cNvSpPr/>
            <p:nvPr/>
          </p:nvSpPr>
          <p:spPr>
            <a:xfrm>
              <a:off x="4470007" y="4409916"/>
              <a:ext cx="154832" cy="148009"/>
            </a:xfrm>
            <a:prstGeom prst="ellipse">
              <a:avLst/>
            </a:prstGeom>
            <a:solidFill>
              <a:srgbClr val="FDC4C4"/>
            </a:solidFill>
            <a:ln/>
          </p:spPr>
        </p:sp>
        <p:pic>
          <p:nvPicPr>
            <p:cNvPr id="38" name="Image 7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512603" y="4450629"/>
              <a:ext cx="69639" cy="66570"/>
            </a:xfrm>
            <a:prstGeom prst="rect">
              <a:avLst/>
            </a:prstGeom>
          </p:spPr>
        </p:pic>
        <p:sp>
          <p:nvSpPr>
            <p:cNvPr id="39" name="Text 29"/>
            <p:cNvSpPr/>
            <p:nvPr/>
          </p:nvSpPr>
          <p:spPr>
            <a:xfrm>
              <a:off x="4470007" y="4582570"/>
              <a:ext cx="2852275" cy="7708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650" dirty="0">
                  <a:solidFill>
                    <a:srgbClr val="C7CDD6"/>
                  </a:solidFill>
                  <a:latin typeface="Times New Roman" panose="02020603050405020304" pitchFamily="18" charset="0"/>
                  <a:ea typeface="Instrument Sans Medium" pitchFamily="34" charset="-122"/>
                  <a:cs typeface="Times New Roman" panose="02020603050405020304" pitchFamily="18" charset="0"/>
                </a:rPr>
                <a:t>Git</a:t>
              </a:r>
              <a:endParaRPr lang="en-US" sz="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Text 30"/>
            <p:cNvSpPr/>
            <p:nvPr/>
          </p:nvSpPr>
          <p:spPr>
            <a:xfrm>
              <a:off x="1437159" y="4736717"/>
              <a:ext cx="6269682" cy="592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550" dirty="0">
                  <a:solidFill>
                    <a:srgbClr val="C7CDD6"/>
                  </a:solidFill>
                  <a:latin typeface="Times New Roman" panose="02020603050405020304" pitchFamily="18" charset="0"/>
                  <a:ea typeface="Inter" pitchFamily="34" charset="-122"/>
                  <a:cs typeface="Times New Roman" panose="02020603050405020304" pitchFamily="18" charset="0"/>
                </a:rPr>
                <a:t>Currently file/CSV-based — no database integrated yet.</a:t>
              </a:r>
              <a:endParaRPr lang="en-US" sz="5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453" y="506090"/>
            <a:ext cx="1428750" cy="1428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48496" y="850702"/>
            <a:ext cx="5204073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EFD5FA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Why Random Forest?</a:t>
            </a:r>
            <a:endParaRPr lang="en-US" sz="2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3448496" y="1283271"/>
            <a:ext cx="5204073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C7CDD6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Serves as an interpretable baseline before experimenting with XGBoost, LightGBM, Isolation Forest, Autoencoders, LSTM, and Transformers in later phases.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7642" y="2132930"/>
            <a:ext cx="166092" cy="16609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55985" y="2129507"/>
            <a:ext cx="7791896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C7CDD6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Strong Tabular Baseline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855985" y="2354387"/>
            <a:ext cx="7791896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C7CDD6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Proven performance on structured, flow-based data like CICIDS2017 without heavy feature engineering.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7642" y="2688580"/>
            <a:ext cx="166092" cy="16609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5985" y="2685157"/>
            <a:ext cx="7791896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C7CDD6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Handles Mixed Scales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855985" y="2910036"/>
            <a:ext cx="7791896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C7CDD6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Naturally processes mixed-scale numerical features without aggressive normalization.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7642" y="3244230"/>
            <a:ext cx="166092" cy="16609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55985" y="3240807"/>
            <a:ext cx="7791896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C7CDD6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Built-in Explainability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7"/>
          <p:cNvSpPr/>
          <p:nvPr/>
        </p:nvSpPr>
        <p:spPr>
          <a:xfrm>
            <a:off x="855985" y="3465686"/>
            <a:ext cx="7791896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C7CDD6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Feature importance scores make predictions interpretable — critical for SOC analyst trust.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7642" y="3799880"/>
            <a:ext cx="166092" cy="16609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55985" y="3796457"/>
            <a:ext cx="7791896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C7CDD6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Fast &amp; Lightweight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9"/>
          <p:cNvSpPr/>
          <p:nvPr/>
        </p:nvSpPr>
        <p:spPr>
          <a:xfrm>
            <a:off x="855985" y="4021336"/>
            <a:ext cx="7791896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C7CDD6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Low resource requirements enable rapid iteration during research and development cycles.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7642" y="4355529"/>
            <a:ext cx="166092" cy="16609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55985" y="4352106"/>
            <a:ext cx="7791896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C7CDD6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Robust to Noise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855985" y="4576986"/>
            <a:ext cx="7791896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C7CDD6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Ensemble approach reduces overfitting compared to single decision trees, handling outliers gracefully.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F705C6F-5033-2983-923A-4DBF23596BFC}"/>
              </a:ext>
            </a:extLst>
          </p:cNvPr>
          <p:cNvSpPr/>
          <p:nvPr/>
        </p:nvSpPr>
        <p:spPr>
          <a:xfrm>
            <a:off x="6346642" y="4678680"/>
            <a:ext cx="2758440" cy="464820"/>
          </a:xfrm>
          <a:prstGeom prst="rect">
            <a:avLst/>
          </a:prstGeom>
          <a:solidFill>
            <a:srgbClr val="2424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FD5FA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Frontend Dashboard — Wireframe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682154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C7CDD6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Current implemented UI — intentionally minimal at this stage. Single-page design covers the full analyst workflow.</a:t>
            </a:r>
            <a:endParaRPr lang="en-US" sz="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34BD95-21E7-6ECA-AA04-A5BE743A25A6}"/>
              </a:ext>
            </a:extLst>
          </p:cNvPr>
          <p:cNvSpPr/>
          <p:nvPr/>
        </p:nvSpPr>
        <p:spPr>
          <a:xfrm>
            <a:off x="6346642" y="4678680"/>
            <a:ext cx="2758440" cy="464820"/>
          </a:xfrm>
          <a:prstGeom prst="rect">
            <a:avLst/>
          </a:prstGeom>
          <a:solidFill>
            <a:srgbClr val="2424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FF76775-AC0C-8F50-7D17-B27C64571B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355" y="903603"/>
            <a:ext cx="6570507" cy="377432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2BF77808-39EE-5804-A8B1-F0F3EB79D496}"/>
              </a:ext>
            </a:extLst>
          </p:cNvPr>
          <p:cNvSpPr/>
          <p:nvPr/>
        </p:nvSpPr>
        <p:spPr>
          <a:xfrm>
            <a:off x="6345827" y="4624051"/>
            <a:ext cx="2758440" cy="464820"/>
          </a:xfrm>
          <a:prstGeom prst="rect">
            <a:avLst/>
          </a:prstGeom>
          <a:solidFill>
            <a:srgbClr val="2424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ADF84E9-1BF7-3B6C-5307-D331BEC56473}"/>
              </a:ext>
            </a:extLst>
          </p:cNvPr>
          <p:cNvGrpSpPr/>
          <p:nvPr/>
        </p:nvGrpSpPr>
        <p:grpSpPr>
          <a:xfrm>
            <a:off x="511040" y="287039"/>
            <a:ext cx="8033636" cy="3949735"/>
            <a:chOff x="496119" y="389855"/>
            <a:chExt cx="8253524" cy="4030608"/>
          </a:xfrm>
        </p:grpSpPr>
        <p:sp>
          <p:nvSpPr>
            <p:cNvPr id="2" name="Text 0"/>
            <p:cNvSpPr/>
            <p:nvPr/>
          </p:nvSpPr>
          <p:spPr>
            <a:xfrm>
              <a:off x="496119" y="389855"/>
              <a:ext cx="8151763" cy="2214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2400" dirty="0">
                  <a:solidFill>
                    <a:srgbClr val="EFD5FA"/>
                  </a:solidFill>
                  <a:latin typeface="Times New Roman" panose="02020603050405020304" pitchFamily="18" charset="0"/>
                  <a:ea typeface="Instrument Sans Medium" pitchFamily="34" charset="-122"/>
                  <a:cs typeface="Times New Roman" panose="02020603050405020304" pitchFamily="18" charset="0"/>
                </a:rPr>
                <a:t>Model Performance &amp; Current Limitations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Text 1"/>
            <p:cNvSpPr/>
            <p:nvPr/>
          </p:nvSpPr>
          <p:spPr>
            <a:xfrm>
              <a:off x="4760230" y="1168077"/>
              <a:ext cx="3989412" cy="11072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2400" dirty="0">
                  <a:solidFill>
                    <a:srgbClr val="EFD5FA"/>
                  </a:solidFill>
                  <a:latin typeface="Times New Roman" panose="02020603050405020304" pitchFamily="18" charset="0"/>
                  <a:ea typeface="Instrument Sans Medium" pitchFamily="34" charset="-122"/>
                  <a:cs typeface="Times New Roman" panose="02020603050405020304" pitchFamily="18" charset="0"/>
                </a:rPr>
                <a:t>Performance Summary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Text 2"/>
            <p:cNvSpPr/>
            <p:nvPr/>
          </p:nvSpPr>
          <p:spPr>
            <a:xfrm>
              <a:off x="4760230" y="2111245"/>
              <a:ext cx="3989412" cy="9638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100" dirty="0">
                  <a:solidFill>
                    <a:srgbClr val="C7CDD6"/>
                  </a:solidFill>
                  <a:latin typeface="Times New Roman" panose="02020603050405020304" pitchFamily="18" charset="0"/>
                  <a:ea typeface="Inter" pitchFamily="34" charset="-122"/>
                  <a:cs typeface="Times New Roman" panose="02020603050405020304" pitchFamily="18" charset="0"/>
                </a:rPr>
                <a:t>Near-perfect accuracy on </a:t>
              </a:r>
              <a:r>
                <a:rPr lang="en-US" sz="1100" b="1" dirty="0">
                  <a:solidFill>
                    <a:srgbClr val="C7CDD6"/>
                  </a:solidFill>
                  <a:latin typeface="Times New Roman" panose="02020603050405020304" pitchFamily="18" charset="0"/>
                  <a:ea typeface="Inter Bold" pitchFamily="34" charset="-122"/>
                  <a:cs typeface="Times New Roman" panose="02020603050405020304" pitchFamily="18" charset="0"/>
                </a:rPr>
                <a:t>10 of 15</a:t>
              </a:r>
              <a:r>
                <a:rPr lang="en-US" sz="1100" dirty="0">
                  <a:solidFill>
                    <a:srgbClr val="C7CDD6"/>
                  </a:solidFill>
                  <a:latin typeface="Times New Roman" panose="02020603050405020304" pitchFamily="18" charset="0"/>
                  <a:ea typeface="Inter" pitchFamily="34" charset="-122"/>
                  <a:cs typeface="Times New Roman" panose="02020603050405020304" pitchFamily="18" charset="0"/>
                </a:rPr>
                <a:t> attack classes. Remaining confusion stems from feature similarity and class imbalance in CICIDS2017.</a:t>
              </a:r>
              <a:endParaRPr 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Text 3"/>
            <p:cNvSpPr/>
            <p:nvPr/>
          </p:nvSpPr>
          <p:spPr>
            <a:xfrm>
              <a:off x="4760229" y="2989054"/>
              <a:ext cx="3989412" cy="11072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400" dirty="0">
                  <a:solidFill>
                    <a:srgbClr val="EFD5FA"/>
                  </a:solidFill>
                  <a:latin typeface="Times New Roman" panose="02020603050405020304" pitchFamily="18" charset="0"/>
                  <a:ea typeface="Instrument Sans Medium" pitchFamily="34" charset="-122"/>
                  <a:cs typeface="Times New Roman" panose="02020603050405020304" pitchFamily="18" charset="0"/>
                </a:rPr>
                <a:t>Known Limitations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Image 1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738305" y="3952919"/>
              <a:ext cx="2011338" cy="467544"/>
            </a:xfrm>
            <a:prstGeom prst="rect">
              <a:avLst/>
            </a:prstGeom>
          </p:spPr>
        </p:pic>
        <p:sp>
          <p:nvSpPr>
            <p:cNvPr id="8" name="Text 4"/>
            <p:cNvSpPr/>
            <p:nvPr/>
          </p:nvSpPr>
          <p:spPr>
            <a:xfrm>
              <a:off x="6856772" y="4033286"/>
              <a:ext cx="1812503" cy="1154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650" dirty="0">
                  <a:solidFill>
                    <a:srgbClr val="000000"/>
                  </a:solidFill>
                  <a:latin typeface="Times New Roman" panose="02020603050405020304" pitchFamily="18" charset="0"/>
                  <a:ea typeface="Twemoji Mozilla" pitchFamily="34" charset="-122"/>
                  <a:cs typeface="Times New Roman" panose="02020603050405020304" pitchFamily="18" charset="0"/>
                </a:rPr>
                <a:t>⚠</a:t>
              </a:r>
              <a:r>
                <a:rPr lang="en-US" sz="650" dirty="0">
                  <a:solidFill>
                    <a:srgbClr val="C7CDD6"/>
                  </a:solidFill>
                  <a:latin typeface="Times New Roman" panose="02020603050405020304" pitchFamily="18" charset="0"/>
                  <a:ea typeface="Instrument Sans Medium" pitchFamily="34" charset="-122"/>
                  <a:cs typeface="Times New Roman" panose="02020603050405020304" pitchFamily="18" charset="0"/>
                </a:rPr>
                <a:t> Feature Similarity</a:t>
              </a:r>
              <a:endParaRPr lang="en-US" sz="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Text 5"/>
            <p:cNvSpPr/>
            <p:nvPr/>
          </p:nvSpPr>
          <p:spPr>
            <a:xfrm>
              <a:off x="6856772" y="4169985"/>
              <a:ext cx="1812503" cy="17011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lnSpcReduction="10000"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550" dirty="0">
                  <a:solidFill>
                    <a:srgbClr val="C7CDD6"/>
                  </a:solidFill>
                  <a:latin typeface="Times New Roman" panose="02020603050405020304" pitchFamily="18" charset="0"/>
                  <a:ea typeface="Inter" pitchFamily="34" charset="-122"/>
                  <a:cs typeface="Times New Roman" panose="02020603050405020304" pitchFamily="18" charset="0"/>
                </a:rPr>
                <a:t>Some attack classes share nearly identical flow-level signatures, causing cross-class confusion.</a:t>
              </a:r>
              <a:endParaRPr lang="en-US" sz="5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0" name="Image 2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738231" y="3296821"/>
              <a:ext cx="2011412" cy="467544"/>
            </a:xfrm>
            <a:prstGeom prst="rect">
              <a:avLst/>
            </a:prstGeom>
          </p:spPr>
        </p:pic>
        <p:sp>
          <p:nvSpPr>
            <p:cNvPr id="11" name="Text 6"/>
            <p:cNvSpPr/>
            <p:nvPr/>
          </p:nvSpPr>
          <p:spPr>
            <a:xfrm>
              <a:off x="6856699" y="3377188"/>
              <a:ext cx="1812578" cy="1154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650" dirty="0">
                  <a:solidFill>
                    <a:srgbClr val="000000"/>
                  </a:solidFill>
                  <a:latin typeface="Times New Roman" panose="02020603050405020304" pitchFamily="18" charset="0"/>
                  <a:ea typeface="Twemoji Mozilla" pitchFamily="34" charset="-122"/>
                  <a:cs typeface="Times New Roman" panose="02020603050405020304" pitchFamily="18" charset="0"/>
                </a:rPr>
                <a:t>⚠</a:t>
              </a:r>
              <a:r>
                <a:rPr lang="en-US" sz="650" dirty="0">
                  <a:solidFill>
                    <a:srgbClr val="C7CDD6"/>
                  </a:solidFill>
                  <a:latin typeface="Times New Roman" panose="02020603050405020304" pitchFamily="18" charset="0"/>
                  <a:ea typeface="Instrument Sans Medium" pitchFamily="34" charset="-122"/>
                  <a:cs typeface="Times New Roman" panose="02020603050405020304" pitchFamily="18" charset="0"/>
                </a:rPr>
                <a:t> Class Imbalance</a:t>
              </a:r>
              <a:endParaRPr lang="en-US" sz="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Text 7"/>
            <p:cNvSpPr/>
            <p:nvPr/>
          </p:nvSpPr>
          <p:spPr>
            <a:xfrm>
              <a:off x="6856699" y="3513887"/>
              <a:ext cx="1812578" cy="17011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lnSpcReduction="10000"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550" dirty="0">
                  <a:solidFill>
                    <a:srgbClr val="C7CDD6"/>
                  </a:solidFill>
                  <a:latin typeface="Times New Roman" panose="02020603050405020304" pitchFamily="18" charset="0"/>
                  <a:ea typeface="Inter" pitchFamily="34" charset="-122"/>
                  <a:cs typeface="Times New Roman" panose="02020603050405020304" pitchFamily="18" charset="0"/>
                </a:rPr>
                <a:t>Underrepresented attack types in CICIDS2017 yield weaker per-class performance.</a:t>
              </a:r>
              <a:endParaRPr lang="en-US" sz="5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3" name="Image 3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25131" y="3952919"/>
              <a:ext cx="2011339" cy="467544"/>
            </a:xfrm>
            <a:prstGeom prst="rect">
              <a:avLst/>
            </a:prstGeom>
          </p:spPr>
        </p:pic>
        <p:sp>
          <p:nvSpPr>
            <p:cNvPr id="14" name="Text 8"/>
            <p:cNvSpPr/>
            <p:nvPr/>
          </p:nvSpPr>
          <p:spPr>
            <a:xfrm>
              <a:off x="4743598" y="4033287"/>
              <a:ext cx="1812503" cy="1154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650" dirty="0">
                  <a:solidFill>
                    <a:srgbClr val="000000"/>
                  </a:solidFill>
                  <a:latin typeface="Times New Roman" panose="02020603050405020304" pitchFamily="18" charset="0"/>
                  <a:ea typeface="Twemoji Mozilla" pitchFamily="34" charset="-122"/>
                  <a:cs typeface="Times New Roman" panose="02020603050405020304" pitchFamily="18" charset="0"/>
                </a:rPr>
                <a:t>⚠</a:t>
              </a:r>
              <a:r>
                <a:rPr lang="en-US" sz="650" dirty="0">
                  <a:solidFill>
                    <a:srgbClr val="C7CDD6"/>
                  </a:solidFill>
                  <a:latin typeface="Times New Roman" panose="02020603050405020304" pitchFamily="18" charset="0"/>
                  <a:ea typeface="Instrument Sans Medium" pitchFamily="34" charset="-122"/>
                  <a:cs typeface="Times New Roman" panose="02020603050405020304" pitchFamily="18" charset="0"/>
                </a:rPr>
                <a:t> Dataset Constraints</a:t>
              </a:r>
              <a:endParaRPr lang="en-US" sz="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 9"/>
            <p:cNvSpPr/>
            <p:nvPr/>
          </p:nvSpPr>
          <p:spPr>
            <a:xfrm>
              <a:off x="4743598" y="4169986"/>
              <a:ext cx="1812503" cy="17011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lnSpcReduction="10000"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550" dirty="0">
                  <a:solidFill>
                    <a:srgbClr val="C7CDD6"/>
                  </a:solidFill>
                  <a:latin typeface="Times New Roman" panose="02020603050405020304" pitchFamily="18" charset="0"/>
                  <a:ea typeface="Inter" pitchFamily="34" charset="-122"/>
                  <a:cs typeface="Times New Roman" panose="02020603050405020304" pitchFamily="18" charset="0"/>
                </a:rPr>
                <a:t>Public dataset limits diversity and realism of certain attack scenarios.</a:t>
              </a:r>
              <a:endParaRPr lang="en-US" sz="5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6" name="Image 4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25057" y="3303621"/>
              <a:ext cx="2011412" cy="467544"/>
            </a:xfrm>
            <a:prstGeom prst="rect">
              <a:avLst/>
            </a:prstGeom>
          </p:spPr>
        </p:pic>
        <p:sp>
          <p:nvSpPr>
            <p:cNvPr id="17" name="Text 10"/>
            <p:cNvSpPr/>
            <p:nvPr/>
          </p:nvSpPr>
          <p:spPr>
            <a:xfrm>
              <a:off x="4743524" y="3383989"/>
              <a:ext cx="1812578" cy="1154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650" dirty="0">
                  <a:solidFill>
                    <a:srgbClr val="000000"/>
                  </a:solidFill>
                  <a:latin typeface="Times New Roman" panose="02020603050405020304" pitchFamily="18" charset="0"/>
                  <a:ea typeface="Twemoji Mozilla" pitchFamily="34" charset="-122"/>
                  <a:cs typeface="Times New Roman" panose="02020603050405020304" pitchFamily="18" charset="0"/>
                </a:rPr>
                <a:t>⚠</a:t>
              </a:r>
              <a:r>
                <a:rPr lang="en-US" sz="650" dirty="0">
                  <a:solidFill>
                    <a:srgbClr val="C7CDD6"/>
                  </a:solidFill>
                  <a:latin typeface="Times New Roman" panose="02020603050405020304" pitchFamily="18" charset="0"/>
                  <a:ea typeface="Instrument Sans Medium" pitchFamily="34" charset="-122"/>
                  <a:cs typeface="Times New Roman" panose="02020603050405020304" pitchFamily="18" charset="0"/>
                </a:rPr>
                <a:t> Offline Only</a:t>
              </a:r>
              <a:endParaRPr lang="en-US" sz="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 11"/>
            <p:cNvSpPr/>
            <p:nvPr/>
          </p:nvSpPr>
          <p:spPr>
            <a:xfrm>
              <a:off x="4743524" y="3520688"/>
              <a:ext cx="1812578" cy="17011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lnSpcReduction="10000"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550" dirty="0">
                  <a:solidFill>
                    <a:srgbClr val="C7CDD6"/>
                  </a:solidFill>
                  <a:latin typeface="Times New Roman" panose="02020603050405020304" pitchFamily="18" charset="0"/>
                  <a:ea typeface="Inter" pitchFamily="34" charset="-122"/>
                  <a:cs typeface="Times New Roman" panose="02020603050405020304" pitchFamily="18" charset="0"/>
                </a:rPr>
                <a:t>No live or real-time traffic analysis — CSV-only, batch mode currently.</a:t>
              </a:r>
              <a:endParaRPr lang="en-US" sz="5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4C5477EE-FDEF-F617-9CAD-5BA551E0C1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674" y="857250"/>
            <a:ext cx="41148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E23E970-3D5D-BC62-501F-7826D4D3B107}"/>
              </a:ext>
            </a:extLst>
          </p:cNvPr>
          <p:cNvSpPr/>
          <p:nvPr/>
        </p:nvSpPr>
        <p:spPr>
          <a:xfrm>
            <a:off x="6346642" y="4678680"/>
            <a:ext cx="2758440" cy="464820"/>
          </a:xfrm>
          <a:prstGeom prst="rect">
            <a:avLst/>
          </a:prstGeom>
          <a:solidFill>
            <a:srgbClr val="2424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18058"/>
            <a:ext cx="472276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EFD5FA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Value &amp; Usefulness</a:t>
            </a:r>
            <a:endParaRPr lang="en-US" sz="2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3925119" y="955774"/>
            <a:ext cx="4722763" cy="863947"/>
          </a:xfrm>
          <a:prstGeom prst="roundRect">
            <a:avLst>
              <a:gd name="adj" fmla="val 2115"/>
            </a:avLst>
          </a:prstGeom>
          <a:solidFill>
            <a:srgbClr val="434348"/>
          </a:solidFill>
          <a:ln/>
        </p:spPr>
      </p:sp>
      <p:sp>
        <p:nvSpPr>
          <p:cNvPr id="5" name="Text 2"/>
          <p:cNvSpPr/>
          <p:nvPr/>
        </p:nvSpPr>
        <p:spPr>
          <a:xfrm>
            <a:off x="4046934" y="1077590"/>
            <a:ext cx="4479131" cy="195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anose="02020603050405020304" pitchFamily="18" charset="0"/>
                <a:ea typeface="Twemoji Mozilla" pitchFamily="34" charset="-122"/>
                <a:cs typeface="Times New Roman" panose="02020603050405020304" pitchFamily="18" charset="0"/>
              </a:rPr>
              <a:t>🔍</a:t>
            </a:r>
            <a:r>
              <a:rPr lang="en-US" sz="1150" dirty="0">
                <a:solidFill>
                  <a:srgbClr val="C7CDD6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SOC Triage Speed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046934" y="1335509"/>
            <a:ext cx="4479131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C7CDD6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Gives analysts a fast, ML-assisted way to triage flow data and flag malicious traffic at scale.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3925119" y="1924348"/>
            <a:ext cx="4722763" cy="863947"/>
          </a:xfrm>
          <a:prstGeom prst="roundRect">
            <a:avLst>
              <a:gd name="adj" fmla="val 2115"/>
            </a:avLst>
          </a:prstGeom>
          <a:solidFill>
            <a:srgbClr val="434348"/>
          </a:solidFill>
          <a:ln/>
        </p:spPr>
      </p:sp>
      <p:sp>
        <p:nvSpPr>
          <p:cNvPr id="8" name="Text 5"/>
          <p:cNvSpPr/>
          <p:nvPr/>
        </p:nvSpPr>
        <p:spPr>
          <a:xfrm>
            <a:off x="4046934" y="2046163"/>
            <a:ext cx="4479131" cy="195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anose="02020603050405020304" pitchFamily="18" charset="0"/>
                <a:ea typeface="Twemoji Mozilla" pitchFamily="34" charset="-122"/>
                <a:cs typeface="Times New Roman" panose="02020603050405020304" pitchFamily="18" charset="0"/>
              </a:rPr>
              <a:t>📊</a:t>
            </a:r>
            <a:r>
              <a:rPr lang="en-US" sz="1150" dirty="0">
                <a:solidFill>
                  <a:srgbClr val="C7CDD6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Interpretable Output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046934" y="2304083"/>
            <a:ext cx="4479131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C7CDD6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Risk scoring and confidence metrics — not just a binary verdict — support analyst decision-making.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925119" y="2892921"/>
            <a:ext cx="4722763" cy="863947"/>
          </a:xfrm>
          <a:prstGeom prst="roundRect">
            <a:avLst>
              <a:gd name="adj" fmla="val 2115"/>
            </a:avLst>
          </a:prstGeom>
          <a:solidFill>
            <a:srgbClr val="434348"/>
          </a:solidFill>
          <a:ln/>
        </p:spPr>
      </p:sp>
      <p:sp>
        <p:nvSpPr>
          <p:cNvPr id="11" name="Text 8"/>
          <p:cNvSpPr/>
          <p:nvPr/>
        </p:nvSpPr>
        <p:spPr>
          <a:xfrm>
            <a:off x="4046934" y="3014737"/>
            <a:ext cx="4479131" cy="195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anose="02020603050405020304" pitchFamily="18" charset="0"/>
                <a:ea typeface="Twemoji Mozilla" pitchFamily="34" charset="-122"/>
                <a:cs typeface="Times New Roman" panose="02020603050405020304" pitchFamily="18" charset="0"/>
              </a:rPr>
              <a:t>🔬</a:t>
            </a:r>
            <a:r>
              <a:rPr lang="en-US" sz="1150" dirty="0">
                <a:solidFill>
                  <a:srgbClr val="C7CDD6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Research Artifact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046934" y="3272656"/>
            <a:ext cx="4479131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C7CDD6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Demonstrates practical ensemble ML applied to network intrusion detection on a recognized benchmark dataset.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925119" y="3861495"/>
            <a:ext cx="4722763" cy="863947"/>
          </a:xfrm>
          <a:prstGeom prst="roundRect">
            <a:avLst>
              <a:gd name="adj" fmla="val 2115"/>
            </a:avLst>
          </a:prstGeom>
          <a:solidFill>
            <a:srgbClr val="434348"/>
          </a:solidFill>
          <a:ln/>
        </p:spPr>
      </p:sp>
      <p:sp>
        <p:nvSpPr>
          <p:cNvPr id="14" name="Text 11"/>
          <p:cNvSpPr/>
          <p:nvPr/>
        </p:nvSpPr>
        <p:spPr>
          <a:xfrm>
            <a:off x="4046934" y="3983310"/>
            <a:ext cx="4479131" cy="195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anose="02020603050405020304" pitchFamily="18" charset="0"/>
                <a:ea typeface="Twemoji Mozilla" pitchFamily="34" charset="-122"/>
                <a:cs typeface="Times New Roman" panose="02020603050405020304" pitchFamily="18" charset="0"/>
              </a:rPr>
              <a:t>🏗</a:t>
            </a:r>
            <a:r>
              <a:rPr lang="en-US" sz="1150" dirty="0">
                <a:solidFill>
                  <a:srgbClr val="C7CDD6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Foundation Layer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046934" y="4241229"/>
            <a:ext cx="4479131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C7CDD6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Serves as the detection engine for a future full network observability and live simulation platform.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893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EFD5FA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Future Roadmap</a:t>
            </a:r>
            <a:endParaRPr lang="en-US" sz="2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62475" y="1125438"/>
            <a:ext cx="19050" cy="3619128"/>
          </a:xfrm>
          <a:prstGeom prst="roundRect">
            <a:avLst>
              <a:gd name="adj" fmla="val 111628"/>
            </a:avLst>
          </a:prstGeom>
          <a:solidFill>
            <a:srgbClr val="5C5C61"/>
          </a:solidFill>
          <a:ln/>
        </p:spPr>
      </p:sp>
      <p:sp>
        <p:nvSpPr>
          <p:cNvPr id="4" name="Shape 2"/>
          <p:cNvSpPr/>
          <p:nvPr/>
        </p:nvSpPr>
        <p:spPr>
          <a:xfrm>
            <a:off x="4006304" y="1275383"/>
            <a:ext cx="425276" cy="19050"/>
          </a:xfrm>
          <a:prstGeom prst="roundRect">
            <a:avLst>
              <a:gd name="adj" fmla="val 111628"/>
            </a:avLst>
          </a:prstGeom>
          <a:solidFill>
            <a:srgbClr val="5C5C61"/>
          </a:solidFill>
          <a:ln/>
        </p:spPr>
      </p:sp>
      <p:sp>
        <p:nvSpPr>
          <p:cNvPr id="5" name="Shape 3"/>
          <p:cNvSpPr/>
          <p:nvPr/>
        </p:nvSpPr>
        <p:spPr>
          <a:xfrm>
            <a:off x="4412531" y="1125438"/>
            <a:ext cx="318939" cy="318939"/>
          </a:xfrm>
          <a:prstGeom prst="roundRect">
            <a:avLst>
              <a:gd name="adj" fmla="val 6667"/>
            </a:avLst>
          </a:prstGeom>
          <a:solidFill>
            <a:srgbClr val="434348"/>
          </a:solidFill>
          <a:ln/>
        </p:spPr>
      </p:sp>
      <p:sp>
        <p:nvSpPr>
          <p:cNvPr id="6" name="Text 4"/>
          <p:cNvSpPr/>
          <p:nvPr/>
        </p:nvSpPr>
        <p:spPr>
          <a:xfrm>
            <a:off x="4465700" y="1152004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C7CDD6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1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96119" y="1174105"/>
            <a:ext cx="336708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Phase 1 — Complete ✓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96119" y="1480617"/>
            <a:ext cx="3367088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ML Detection Engine: Random Forest classifier, CSV pipeline, frontend dashboard, CICIDS2017 evaluation.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712419" y="2125935"/>
            <a:ext cx="425276" cy="19050"/>
          </a:xfrm>
          <a:prstGeom prst="roundRect">
            <a:avLst>
              <a:gd name="adj" fmla="val 111628"/>
            </a:avLst>
          </a:prstGeom>
          <a:solidFill>
            <a:srgbClr val="5C5C61"/>
          </a:solidFill>
          <a:ln/>
        </p:spPr>
      </p:sp>
      <p:sp>
        <p:nvSpPr>
          <p:cNvPr id="10" name="Shape 8"/>
          <p:cNvSpPr/>
          <p:nvPr/>
        </p:nvSpPr>
        <p:spPr>
          <a:xfrm>
            <a:off x="4412531" y="1975991"/>
            <a:ext cx="318939" cy="318939"/>
          </a:xfrm>
          <a:prstGeom prst="roundRect">
            <a:avLst>
              <a:gd name="adj" fmla="val 6667"/>
            </a:avLst>
          </a:prstGeom>
          <a:solidFill>
            <a:srgbClr val="434348"/>
          </a:solidFill>
          <a:ln/>
        </p:spPr>
      </p:sp>
      <p:sp>
        <p:nvSpPr>
          <p:cNvPr id="11" name="Text 9"/>
          <p:cNvSpPr/>
          <p:nvPr/>
        </p:nvSpPr>
        <p:spPr>
          <a:xfrm>
            <a:off x="4465700" y="2002557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C7CDD6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2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280794" y="2024658"/>
            <a:ext cx="336708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Phase 2 — Planned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280794" y="2331169"/>
            <a:ext cx="336708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Custom dataset via CICFlowMeter to address class imbalance. Add XGBoost, LightGBM, Isolation Forest, Autoencoder, LSTM, Transformer models.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006304" y="2898874"/>
            <a:ext cx="425276" cy="19050"/>
          </a:xfrm>
          <a:prstGeom prst="roundRect">
            <a:avLst>
              <a:gd name="adj" fmla="val 111628"/>
            </a:avLst>
          </a:prstGeom>
          <a:solidFill>
            <a:srgbClr val="5C5C61"/>
          </a:solidFill>
          <a:ln/>
        </p:spPr>
      </p:sp>
      <p:sp>
        <p:nvSpPr>
          <p:cNvPr id="15" name="Shape 13"/>
          <p:cNvSpPr/>
          <p:nvPr/>
        </p:nvSpPr>
        <p:spPr>
          <a:xfrm>
            <a:off x="4412531" y="2748930"/>
            <a:ext cx="318939" cy="318939"/>
          </a:xfrm>
          <a:prstGeom prst="roundRect">
            <a:avLst>
              <a:gd name="adj" fmla="val 6667"/>
            </a:avLst>
          </a:prstGeom>
          <a:solidFill>
            <a:srgbClr val="434348"/>
          </a:solidFill>
          <a:ln/>
        </p:spPr>
      </p:sp>
      <p:sp>
        <p:nvSpPr>
          <p:cNvPr id="16" name="Text 14"/>
          <p:cNvSpPr/>
          <p:nvPr/>
        </p:nvSpPr>
        <p:spPr>
          <a:xfrm>
            <a:off x="4465700" y="2775496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C7CDD6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3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96119" y="2797597"/>
            <a:ext cx="336708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Phase 3 — Planned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96119" y="3104108"/>
            <a:ext cx="336708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Live network simulation: Containerlab, Docker, FRRouting (server, benign user, attacker, router/telemetry node). Real-time SNMP, Syslog, NetFlow ingestion.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712419" y="3671888"/>
            <a:ext cx="425276" cy="19050"/>
          </a:xfrm>
          <a:prstGeom prst="roundRect">
            <a:avLst>
              <a:gd name="adj" fmla="val 111628"/>
            </a:avLst>
          </a:prstGeom>
          <a:solidFill>
            <a:srgbClr val="5C5C61"/>
          </a:solidFill>
          <a:ln/>
        </p:spPr>
      </p:sp>
      <p:sp>
        <p:nvSpPr>
          <p:cNvPr id="20" name="Shape 18"/>
          <p:cNvSpPr/>
          <p:nvPr/>
        </p:nvSpPr>
        <p:spPr>
          <a:xfrm>
            <a:off x="4412531" y="3521943"/>
            <a:ext cx="318939" cy="318939"/>
          </a:xfrm>
          <a:prstGeom prst="roundRect">
            <a:avLst>
              <a:gd name="adj" fmla="val 6667"/>
            </a:avLst>
          </a:prstGeom>
          <a:solidFill>
            <a:srgbClr val="434348"/>
          </a:solidFill>
          <a:ln/>
        </p:spPr>
      </p:sp>
      <p:sp>
        <p:nvSpPr>
          <p:cNvPr id="21" name="Text 19"/>
          <p:cNvSpPr/>
          <p:nvPr/>
        </p:nvSpPr>
        <p:spPr>
          <a:xfrm>
            <a:off x="4465700" y="3548509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C7CDD6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4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280794" y="3570610"/>
            <a:ext cx="336708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Phase 4 — Planned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280794" y="3877121"/>
            <a:ext cx="3367088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Local LLM assistant via Ollama + RAG (ChromaDB) for natural-language alert explanation. Migrate to SQLite/PostgreSQL.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E6733E9-A355-DA2C-B537-4B500AF5AD95}"/>
              </a:ext>
            </a:extLst>
          </p:cNvPr>
          <p:cNvSpPr/>
          <p:nvPr/>
        </p:nvSpPr>
        <p:spPr>
          <a:xfrm>
            <a:off x="6346642" y="4678680"/>
            <a:ext cx="2758440" cy="464820"/>
          </a:xfrm>
          <a:prstGeom prst="rect">
            <a:avLst/>
          </a:prstGeom>
          <a:solidFill>
            <a:srgbClr val="2424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FD5FA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Project Status Summary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04255"/>
            <a:ext cx="4405610" cy="440561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41FEBA05-CABA-90E2-1995-73CD2AE09917}"/>
              </a:ext>
            </a:extLst>
          </p:cNvPr>
          <p:cNvGrpSpPr/>
          <p:nvPr/>
        </p:nvGrpSpPr>
        <p:grpSpPr>
          <a:xfrm>
            <a:off x="4291635" y="1360924"/>
            <a:ext cx="5026807" cy="2383465"/>
            <a:chOff x="4291635" y="2530153"/>
            <a:chExt cx="5026807" cy="749424"/>
          </a:xfrm>
        </p:grpSpPr>
        <p:sp>
          <p:nvSpPr>
            <p:cNvPr id="4" name="Text 1"/>
            <p:cNvSpPr/>
            <p:nvPr/>
          </p:nvSpPr>
          <p:spPr>
            <a:xfrm>
              <a:off x="5079429" y="2530153"/>
              <a:ext cx="3573140" cy="11072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2000" dirty="0">
                  <a:solidFill>
                    <a:srgbClr val="EFD5FA"/>
                  </a:solidFill>
                  <a:latin typeface="Times New Roman" panose="02020603050405020304" pitchFamily="18" charset="0"/>
                  <a:ea typeface="Instrument Sans Medium" pitchFamily="34" charset="-122"/>
                  <a:cs typeface="Times New Roman" panose="02020603050405020304" pitchFamily="18" charset="0"/>
                </a:rPr>
                <a:t>Where We Stand</a:t>
              </a:r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Text 2"/>
            <p:cNvSpPr/>
            <p:nvPr/>
          </p:nvSpPr>
          <p:spPr>
            <a:xfrm>
              <a:off x="5079429" y="2676302"/>
              <a:ext cx="3573140" cy="3720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000" b="1" dirty="0">
                  <a:solidFill>
                    <a:srgbClr val="C7CDD6"/>
                  </a:solidFill>
                  <a:latin typeface="Times New Roman" panose="02020603050405020304" pitchFamily="18" charset="0"/>
                  <a:ea typeface="Inter Bold" pitchFamily="34" charset="-122"/>
                  <a:cs typeface="Times New Roman" panose="02020603050405020304" pitchFamily="18" charset="0"/>
                </a:rPr>
                <a:t>Phase 1 — ML Detection Engine</a:t>
              </a:r>
              <a:r>
                <a:rPr lang="en-US" sz="1000" dirty="0">
                  <a:solidFill>
                    <a:srgbClr val="C7CDD6"/>
                  </a:solidFill>
                  <a:latin typeface="Times New Roman" panose="02020603050405020304" pitchFamily="18" charset="0"/>
                  <a:ea typeface="Inter" pitchFamily="34" charset="-122"/>
                  <a:cs typeface="Times New Roman" panose="02020603050405020304" pitchFamily="18" charset="0"/>
                </a:rPr>
                <a:t> is complete and fully functional. The Random Forest classifier, preprocessing pipeline, and single-page frontend are operational and validated against CICIDS2017.</a:t>
              </a:r>
              <a:endParaRPr 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l">
                <a:lnSpc>
                  <a:spcPct val="100000"/>
                </a:lnSpc>
                <a:buNone/>
              </a:pPr>
              <a:r>
                <a:rPr lang="en-US" sz="1000" b="1" dirty="0">
                  <a:solidFill>
                    <a:srgbClr val="C7CDD6"/>
                  </a:solidFill>
                  <a:latin typeface="Times New Roman" panose="02020603050405020304" pitchFamily="18" charset="0"/>
                  <a:ea typeface="Inter Bold" pitchFamily="34" charset="-122"/>
                  <a:cs typeface="Times New Roman" panose="02020603050405020304" pitchFamily="18" charset="0"/>
                </a:rPr>
                <a:t>Phase 2 — Live Simulation &amp; Observability</a:t>
              </a:r>
              <a:r>
                <a:rPr lang="en-US" sz="1000" dirty="0">
                  <a:solidFill>
                    <a:srgbClr val="C7CDD6"/>
                  </a:solidFill>
                  <a:latin typeface="Times New Roman" panose="02020603050405020304" pitchFamily="18" charset="0"/>
                  <a:ea typeface="Inter" pitchFamily="34" charset="-122"/>
                  <a:cs typeface="Times New Roman" panose="02020603050405020304" pitchFamily="18" charset="0"/>
                </a:rPr>
                <a:t> is the planned next milestone, introducing live network simulation, expanded model support, and real-time telemetry ingestion.</a:t>
              </a:r>
              <a:endParaRPr 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Shape 3"/>
            <p:cNvSpPr/>
            <p:nvPr/>
          </p:nvSpPr>
          <p:spPr>
            <a:xfrm>
              <a:off x="5079429" y="3088184"/>
              <a:ext cx="3573140" cy="191393"/>
            </a:xfrm>
            <a:prstGeom prst="roundRect">
              <a:avLst>
                <a:gd name="adj" fmla="val 5555"/>
              </a:avLst>
            </a:prstGeom>
            <a:solidFill>
              <a:srgbClr val="7B0404"/>
            </a:solidFill>
            <a:ln/>
          </p:spPr>
        </p:sp>
        <p:pic>
          <p:nvPicPr>
            <p:cNvPr id="7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79429" y="3071336"/>
              <a:ext cx="378800" cy="176243"/>
            </a:xfrm>
            <a:prstGeom prst="rect">
              <a:avLst/>
            </a:prstGeom>
          </p:spPr>
        </p:pic>
        <p:sp>
          <p:nvSpPr>
            <p:cNvPr id="8" name="Text 4"/>
            <p:cNvSpPr/>
            <p:nvPr/>
          </p:nvSpPr>
          <p:spPr>
            <a:xfrm>
              <a:off x="4291635" y="3138844"/>
              <a:ext cx="5026807" cy="8505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1100" dirty="0">
                  <a:solidFill>
                    <a:srgbClr val="FFFFFF"/>
                  </a:solidFill>
                  <a:latin typeface="Times New Roman" panose="02020603050405020304" pitchFamily="18" charset="0"/>
                  <a:ea typeface="Inter" pitchFamily="34" charset="-122"/>
                  <a:cs typeface="Times New Roman" panose="02020603050405020304" pitchFamily="18" charset="0"/>
                </a:rPr>
                <a:t>Phase 1 is a working research prototype </a:t>
              </a:r>
            </a:p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1100" dirty="0">
                  <a:solidFill>
                    <a:srgbClr val="FFFFFF"/>
                  </a:solidFill>
                  <a:latin typeface="Times New Roman" panose="02020603050405020304" pitchFamily="18" charset="0"/>
                  <a:ea typeface="Inter" pitchFamily="34" charset="-122"/>
                  <a:cs typeface="Times New Roman" panose="02020603050405020304" pitchFamily="18" charset="0"/>
                </a:rPr>
                <a:t>not yet a production deployment.</a:t>
              </a:r>
              <a:endParaRPr 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3DF2C37A-519B-9A24-0C5A-BFACC0B4B1C6}"/>
              </a:ext>
            </a:extLst>
          </p:cNvPr>
          <p:cNvSpPr/>
          <p:nvPr/>
        </p:nvSpPr>
        <p:spPr>
          <a:xfrm>
            <a:off x="6346642" y="4678680"/>
            <a:ext cx="2758440" cy="464820"/>
          </a:xfrm>
          <a:prstGeom prst="rect">
            <a:avLst/>
          </a:prstGeom>
          <a:solidFill>
            <a:srgbClr val="2424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708571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EFD5FA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Thank You</a:t>
            </a:r>
            <a:endParaRPr lang="en-US" sz="2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3925119" y="1364159"/>
            <a:ext cx="4722763" cy="611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50" dirty="0">
                <a:solidFill>
                  <a:srgbClr val="EFD5FA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Observion</a:t>
            </a:r>
            <a:endParaRPr lang="en-US" sz="3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3925119" y="2188146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AI-Driven Network Threat Detection &amp; Observability Platform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3925119" y="2574429"/>
            <a:ext cx="4722763" cy="1860500"/>
          </a:xfrm>
          <a:prstGeom prst="roundRect">
            <a:avLst>
              <a:gd name="adj" fmla="val 1143"/>
            </a:avLst>
          </a:prstGeom>
          <a:solidFill>
            <a:srgbClr val="434348"/>
          </a:solidFill>
          <a:ln/>
        </p:spPr>
      </p:sp>
      <p:sp>
        <p:nvSpPr>
          <p:cNvPr id="7" name="Shape 4"/>
          <p:cNvSpPr/>
          <p:nvPr/>
        </p:nvSpPr>
        <p:spPr>
          <a:xfrm>
            <a:off x="3925119" y="2574429"/>
            <a:ext cx="2361381" cy="1043657"/>
          </a:xfrm>
          <a:prstGeom prst="rect">
            <a:avLst/>
          </a:prstGeom>
          <a:solidFill>
            <a:srgbClr val="434348"/>
          </a:solidFill>
          <a:ln/>
        </p:spPr>
      </p:sp>
      <p:sp>
        <p:nvSpPr>
          <p:cNvPr id="8" name="Text 5"/>
          <p:cNvSpPr/>
          <p:nvPr/>
        </p:nvSpPr>
        <p:spPr>
          <a:xfrm>
            <a:off x="4066877" y="2716188"/>
            <a:ext cx="207786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Author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066877" y="3022699"/>
            <a:ext cx="207786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Harsh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286500" y="2574429"/>
            <a:ext cx="2361381" cy="1043657"/>
          </a:xfrm>
          <a:prstGeom prst="rect">
            <a:avLst/>
          </a:prstGeom>
          <a:solidFill>
            <a:srgbClr val="434348"/>
          </a:solidFill>
          <a:ln/>
        </p:spPr>
      </p:sp>
      <p:sp>
        <p:nvSpPr>
          <p:cNvPr id="11" name="Shape 8"/>
          <p:cNvSpPr/>
          <p:nvPr/>
        </p:nvSpPr>
        <p:spPr>
          <a:xfrm>
            <a:off x="6286500" y="2574429"/>
            <a:ext cx="19050" cy="1043657"/>
          </a:xfrm>
          <a:prstGeom prst="roundRect">
            <a:avLst>
              <a:gd name="adj" fmla="val 111628"/>
            </a:avLst>
          </a:prstGeom>
          <a:solidFill>
            <a:srgbClr val="5C5C61"/>
          </a:solidFill>
          <a:ln/>
        </p:spPr>
      </p:sp>
      <p:sp>
        <p:nvSpPr>
          <p:cNvPr id="12" name="Text 9"/>
          <p:cNvSpPr/>
          <p:nvPr/>
        </p:nvSpPr>
        <p:spPr>
          <a:xfrm>
            <a:off x="6428259" y="2716188"/>
            <a:ext cx="207786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Current Phase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428259" y="3022699"/>
            <a:ext cx="207786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Phase 1 — ML Detection Engine ✓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925119" y="3618086"/>
            <a:ext cx="4722763" cy="816843"/>
          </a:xfrm>
          <a:prstGeom prst="rect">
            <a:avLst/>
          </a:prstGeom>
          <a:solidFill>
            <a:srgbClr val="434348"/>
          </a:solidFill>
          <a:ln/>
        </p:spPr>
      </p:sp>
      <p:sp>
        <p:nvSpPr>
          <p:cNvPr id="15" name="Shape 12"/>
          <p:cNvSpPr/>
          <p:nvPr/>
        </p:nvSpPr>
        <p:spPr>
          <a:xfrm>
            <a:off x="3925119" y="3618086"/>
            <a:ext cx="4722763" cy="19050"/>
          </a:xfrm>
          <a:prstGeom prst="roundRect">
            <a:avLst>
              <a:gd name="adj" fmla="val 111628"/>
            </a:avLst>
          </a:prstGeom>
          <a:solidFill>
            <a:srgbClr val="5C5C61"/>
          </a:solidFill>
          <a:ln/>
        </p:spPr>
      </p:sp>
      <p:sp>
        <p:nvSpPr>
          <p:cNvPr id="16" name="Text 13"/>
          <p:cNvSpPr/>
          <p:nvPr/>
        </p:nvSpPr>
        <p:spPr>
          <a:xfrm>
            <a:off x="4066877" y="3759845"/>
            <a:ext cx="44392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Next Phase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066877" y="4066356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Phase 2 — Live Simulation &amp; Observability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5D4FC3F-8F7D-A7F6-2845-2A11FBE6EDE3}"/>
              </a:ext>
            </a:extLst>
          </p:cNvPr>
          <p:cNvSpPr/>
          <p:nvPr/>
        </p:nvSpPr>
        <p:spPr>
          <a:xfrm>
            <a:off x="6346642" y="4678680"/>
            <a:ext cx="2758440" cy="464820"/>
          </a:xfrm>
          <a:prstGeom prst="rect">
            <a:avLst/>
          </a:prstGeom>
          <a:solidFill>
            <a:srgbClr val="2424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478</TotalTime>
  <Words>736</Words>
  <Application>Microsoft Office PowerPoint</Application>
  <PresentationFormat>On-screen Show (16:9)</PresentationFormat>
  <Paragraphs>104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Times New Roman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lastModifiedBy>Harsh Dewangan</cp:lastModifiedBy>
  <cp:revision>2</cp:revision>
  <dcterms:created xsi:type="dcterms:W3CDTF">2026-07-18T01:09:20Z</dcterms:created>
  <dcterms:modified xsi:type="dcterms:W3CDTF">2026-07-18T09:08:54Z</dcterms:modified>
</cp:coreProperties>
</file>